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503cec8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503cec8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c408489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c408489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c408489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5c408489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5c408489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5c408489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5c408489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5c408489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c408489b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5c408489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25651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25651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5c408489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5c408489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503cec8e7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503cec8e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c783494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bc783494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503cec8e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503cec8e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256516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8256516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bc783494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bc783494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5c408489b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5c408489b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bc783494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bc783494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bc783494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bc783494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bc783494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bc783494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bc783494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bc783494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3cec8e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3cec8e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503cec8e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503cec8e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Classical Statistics for Scientific Data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Monte Carlo methods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Pueh Leng Tan, plt2120@columbia.edu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 February 2026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Random number generators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1463075" y="3866225"/>
            <a:ext cx="66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Random numbers →Uniform distribution→Any distribution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" name="Google Shape;62;p14" title="Screenshot from 2025-10-10 23-54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63" y="2246713"/>
            <a:ext cx="53054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50800" y="3052925"/>
            <a:ext cx="44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(And then some </a:t>
            </a:r>
            <a:r>
              <a:rPr lang="en-GB" sz="1800">
                <a:solidFill>
                  <a:schemeClr val="dk2"/>
                </a:solidFill>
              </a:rPr>
              <a:t>magic</a:t>
            </a:r>
            <a:r>
              <a:rPr lang="en-GB" sz="1800">
                <a:solidFill>
                  <a:schemeClr val="dk2"/>
                </a:solidFill>
              </a:rPr>
              <a:t> to add it 0 and 1)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51459" y="1627325"/>
            <a:ext cx="539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Starts with random seed, for some fixed a and m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" name="Google Shape;65;p14"/>
          <p:cNvCxnSpPr/>
          <p:nvPr/>
        </p:nvCxnSpPr>
        <p:spPr>
          <a:xfrm flipH="1">
            <a:off x="2357325" y="1997550"/>
            <a:ext cx="2979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700" y="226350"/>
            <a:ext cx="3179297" cy="42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Integral Transform</a:t>
            </a:r>
            <a:endParaRPr/>
          </a:p>
        </p:txBody>
      </p:sp>
      <p:pic>
        <p:nvPicPr>
          <p:cNvPr id="73" name="Google Shape;73;p15" title="Screen Shot 2025-10-08 at 11.41.4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1017725"/>
            <a:ext cx="4040626" cy="38891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580925" y="1181000"/>
            <a:ext cx="403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PDF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580925" y="2019200"/>
            <a:ext cx="403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</a:t>
            </a:r>
            <a:r>
              <a:rPr lang="en-GB" sz="1800">
                <a:solidFill>
                  <a:schemeClr val="dk2"/>
                </a:solidFill>
              </a:rPr>
              <a:t>DF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580925" y="4305200"/>
            <a:ext cx="403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536775" y="4305200"/>
            <a:ext cx="475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CDF is r.v. with standard uniform distribution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Integral Transform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4580925" y="4305200"/>
            <a:ext cx="403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6" title="Screen Shot 2025-10-08 at 11.46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27450"/>
            <a:ext cx="4276125" cy="29217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5127525" y="1611800"/>
            <a:ext cx="29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Definition of CDF of 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127525" y="2145200"/>
            <a:ext cx="29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Definition of 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127525" y="2678600"/>
            <a:ext cx="38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Apply inverse CDF on both sides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127525" y="3288200"/>
            <a:ext cx="38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Definition of CDF of 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127525" y="3821600"/>
            <a:ext cx="389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CDF of y = CDF of standard uniform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Hence y ~ standard uniform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49691"/>
          <a:stretch/>
        </p:blipFill>
        <p:spPr>
          <a:xfrm>
            <a:off x="3746075" y="780633"/>
            <a:ext cx="5238625" cy="3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Inverse transform sampling</a:t>
            </a:r>
            <a:endParaRPr/>
          </a:p>
        </p:txBody>
      </p:sp>
      <p:pic>
        <p:nvPicPr>
          <p:cNvPr id="98" name="Google Shape;98;p17" title="Screen Shot 2025-10-08 at 11.55.5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00" y="2147325"/>
            <a:ext cx="4862251" cy="24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6964700" y="4019158"/>
            <a:ext cx="342300" cy="21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7"/>
          <p:cNvCxnSpPr/>
          <p:nvPr/>
        </p:nvCxnSpPr>
        <p:spPr>
          <a:xfrm>
            <a:off x="3278113" y="2534458"/>
            <a:ext cx="378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" name="Google Shape;101;p17"/>
          <p:cNvSpPr/>
          <p:nvPr/>
        </p:nvSpPr>
        <p:spPr>
          <a:xfrm>
            <a:off x="4983500" y="840833"/>
            <a:ext cx="342300" cy="21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17"/>
          <p:cNvCxnSpPr/>
          <p:nvPr/>
        </p:nvCxnSpPr>
        <p:spPr>
          <a:xfrm>
            <a:off x="7064125" y="2650483"/>
            <a:ext cx="0" cy="120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2722525" y="2868500"/>
            <a:ext cx="3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Inverse transform sampling (15 mins)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5097200" y="340025"/>
            <a:ext cx="406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 the inverse transform sampling to sample from Gaussian(mu=1.1, sigma=0.3)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2" name="Google Shape;112;p18" title="Screenshot from 2025-10-11 10-13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9600" cy="218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059300" y="3733775"/>
            <a:ext cx="553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Clues: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Inverse CDF = Percent point function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Inverse CDF = sps.norm.ppf(loc=mu, scale=sigma)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254525" y="1252650"/>
            <a:ext cx="247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Coding exercise after break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Back 10:50 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Break (15 mins)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1777050" y="2882275"/>
            <a:ext cx="625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Coding exercise after break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Back 10:50 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698" y="847322"/>
            <a:ext cx="4838300" cy="30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Monte Carlo methods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152475"/>
            <a:ext cx="399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Broad class of computational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Solve problems numerically via repeated random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Stanisław Ulam, late 1940s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Monte Carlo Casino in Monaco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ENIC to simulate probability of winning solitaire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H-bomb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Generating samples from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Numerical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Optimization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150300" y="3929375"/>
            <a:ext cx="599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Electronic Numerical Integrator and Computer (ENIC)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Estimating π</a:t>
            </a:r>
            <a:endParaRPr/>
          </a:p>
        </p:txBody>
      </p:sp>
      <p:pic>
        <p:nvPicPr>
          <p:cNvPr id="136" name="Google Shape;136;p21" title="Screen Shot 2025-10-08 at 11.02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4528400" cy="33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5848" y="1646875"/>
            <a:ext cx="3876450" cy="21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2924950" y="4485675"/>
            <a:ext cx="605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https://hef.ru.nl/~tbudd/mct/lectures/introduction_to_the_monte_carlo_method.html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2982100" y="2868500"/>
            <a:ext cx="3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Estimate Pi</a:t>
            </a:r>
            <a:r>
              <a:rPr lang="en-GB" sz="1800">
                <a:solidFill>
                  <a:schemeClr val="dk2"/>
                </a:solidFill>
              </a:rPr>
              <a:t> (15 mins)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 title="Screenshot from 2025-10-11 00-01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300" y="1813200"/>
            <a:ext cx="3062150" cy="28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Accept-Reject algorithm (Rejection sampling)</a:t>
            </a:r>
            <a:endParaRPr/>
          </a:p>
        </p:txBody>
      </p:sp>
      <p:pic>
        <p:nvPicPr>
          <p:cNvPr id="153" name="Google Shape;153;p23" title="Screenshot from 2025-10-11 00-01-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88" y="2284450"/>
            <a:ext cx="6193051" cy="14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223300" y="4239575"/>
            <a:ext cx="625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MCMC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Back 11:50 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Break (15 mins)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1777050" y="2882275"/>
            <a:ext cx="625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MCMC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Back 11:50 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2982100" y="2868500"/>
            <a:ext cx="3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Rejection sampling (20 mins)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Discrete time Markov Chain</a:t>
            </a:r>
            <a:endParaRPr/>
          </a:p>
        </p:txBody>
      </p:sp>
      <p:pic>
        <p:nvPicPr>
          <p:cNvPr id="175" name="Google Shape;175;p26" title="Screenshot from 2025-10-11 00-17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97" y="2101150"/>
            <a:ext cx="5138126" cy="8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311700" y="3231700"/>
            <a:ext cx="543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Sum of outward going arrows =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 sum of inward going arrows not necessarily = 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7" name="Google Shape;177;p26" title="Screenshot from 2025-10-11 00-52-58.png"/>
          <p:cNvPicPr preferRelativeResize="0"/>
          <p:nvPr/>
        </p:nvPicPr>
        <p:blipFill rotWithShape="1">
          <a:blip r:embed="rId4">
            <a:alphaModFix/>
          </a:blip>
          <a:srcRect b="66714" l="0" r="0" t="0"/>
          <a:stretch/>
        </p:blipFill>
        <p:spPr>
          <a:xfrm>
            <a:off x="5798250" y="2414950"/>
            <a:ext cx="3087600" cy="12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6471972" y="3574950"/>
            <a:ext cx="254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</a:rPr>
              <a:t>Nat Methods</a:t>
            </a:r>
            <a:r>
              <a:rPr lang="en-GB" sz="1200">
                <a:solidFill>
                  <a:schemeClr val="dk1"/>
                </a:solidFill>
              </a:rPr>
              <a:t> </a:t>
            </a:r>
            <a:r>
              <a:rPr b="1" lang="en-GB" sz="1200">
                <a:solidFill>
                  <a:schemeClr val="dk1"/>
                </a:solidFill>
              </a:rPr>
              <a:t>16</a:t>
            </a:r>
            <a:r>
              <a:rPr lang="en-GB" sz="1200">
                <a:solidFill>
                  <a:schemeClr val="dk1"/>
                </a:solidFill>
              </a:rPr>
              <a:t>, 663–664 (2019)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6303900" y="1913150"/>
            <a:ext cx="260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Markov state diagram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Transition matrix and equilibrium distribution</a:t>
            </a:r>
            <a:endParaRPr/>
          </a:p>
        </p:txBody>
      </p:sp>
      <p:pic>
        <p:nvPicPr>
          <p:cNvPr id="186" name="Google Shape;186;p27" title="Screenshot from 2025-10-11 00-52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900" y="1014150"/>
            <a:ext cx="3087600" cy="365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3566775" y="4625725"/>
            <a:ext cx="22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</a:rPr>
              <a:t>Nat Methods</a:t>
            </a:r>
            <a:r>
              <a:rPr lang="en-GB" sz="900">
                <a:solidFill>
                  <a:schemeClr val="dk1"/>
                </a:solidFill>
              </a:rPr>
              <a:t> </a:t>
            </a:r>
            <a:r>
              <a:rPr b="1" lang="en-GB" sz="900">
                <a:solidFill>
                  <a:schemeClr val="dk1"/>
                </a:solidFill>
              </a:rPr>
              <a:t>16</a:t>
            </a:r>
            <a:r>
              <a:rPr lang="en-GB" sz="900">
                <a:solidFill>
                  <a:schemeClr val="dk1"/>
                </a:solidFill>
              </a:rPr>
              <a:t>, 663–664 (2019).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837000" y="1272575"/>
            <a:ext cx="180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Directed graph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837000" y="2339375"/>
            <a:ext cx="21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Transition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5981675" y="1387925"/>
            <a:ext cx="29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Probability of G→M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1" name="Google Shape;191;p27"/>
          <p:cNvCxnSpPr/>
          <p:nvPr/>
        </p:nvCxnSpPr>
        <p:spPr>
          <a:xfrm flipH="1">
            <a:off x="5549000" y="1734275"/>
            <a:ext cx="586500" cy="6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" name="Google Shape;192;p27"/>
          <p:cNvSpPr txBox="1"/>
          <p:nvPr/>
        </p:nvSpPr>
        <p:spPr>
          <a:xfrm>
            <a:off x="837000" y="3177575"/>
            <a:ext cx="21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After 2 steps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837000" y="3939575"/>
            <a:ext cx="21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After 4 steps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6018600" y="3939575"/>
            <a:ext cx="29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Equilibrium distribution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Monte Carlo Markov Chains (MCMC)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Class of sampling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Random walk given some initial 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Markov chain’s </a:t>
            </a:r>
            <a:r>
              <a:rPr lang="en-GB"/>
              <a:t>equilibrium</a:t>
            </a:r>
            <a:r>
              <a:rPr lang="en-GB"/>
              <a:t> distribution = Target distribution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More efficient in higher dimensions than other sampling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Disadvantages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Potentially slow convergence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Autocorrelation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Difficult diagnostics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Random walk MCMC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Metropolis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Metropolis-Hastings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Hamiltonian Monte Carlo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etc..</a:t>
            </a:r>
            <a:endParaRPr/>
          </a:p>
        </p:txBody>
      </p:sp>
      <p:sp>
        <p:nvSpPr>
          <p:cNvPr id="202" name="Google Shape;20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Metropolis Algorithm</a:t>
            </a:r>
            <a:endParaRPr/>
          </a:p>
        </p:txBody>
      </p:sp>
      <p:pic>
        <p:nvPicPr>
          <p:cNvPr id="208" name="Google Shape;208;p29" title="Screenshot from 2025-10-11 01-06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75" y="1017725"/>
            <a:ext cx="879324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exercise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2982100" y="2868500"/>
            <a:ext cx="399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Metropolis algorithm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222" name="Google Shape;2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/>
          </a:p>
        </p:txBody>
      </p:sp>
      <p:sp>
        <p:nvSpPr>
          <p:cNvPr id="228" name="Google Shape;22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