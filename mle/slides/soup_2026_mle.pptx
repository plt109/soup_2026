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eefd8e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eefd8e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f0873fb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f0873f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0873fb8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0873fb8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0873fb8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0873fb8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param (mu in this case) is the value of the param that will maximise the chances of you observing that set of data you’ve observed, P(data | theta). I wouldn’t have guessed that the mu is at ~0 because that’ll give me that green PDF, but it’ll be unlikely that that green PDF will give me data like the set that i’ve observed (short vertical black lines).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0873fb8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0873fb8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f0873fb8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f0873fb8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ceefd8e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ceefd8e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f0873fb8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f0873fb8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0873fb8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f0873fb8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0873fb8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f0873fb8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0873fb8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f0873fb8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ceefd8e7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ceefd8e7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0873fb8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f0873fb8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f0873fb8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f0873fb8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0873fb88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f0873fb8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f0873fb8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f0873fb8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dcee2ec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dcee2ec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f0873fb8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f0873fb8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f0873fb88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f0873fb88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f0873fb88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f0873fb88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f0873fb88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f0873fb88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f0873fb88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f0873fb88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f0873fb88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f0873fb88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f0873fb88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f0873fb88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f0873fb88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f0873fb88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f422d426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f422d426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f0873fb88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f0873fb88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f0873fb88_3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f0873fb88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f0873fb88_3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f0873fb88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f0873fb88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9f0873fb88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f0873fb8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f0873fb8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f3d77876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f3d7787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f3d7787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f3d7787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f3d77876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f3d77876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f3d77876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9f3d77876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f3d77876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f3d77876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f3d77876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f3d77876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f3d77876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9f3d77876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ceefd8e7f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ceefd8e7f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f3d77876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9f3d77876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f3d77876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f3d77876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f3d77876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9f3d77876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f3d77876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9f3d77876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f3d77876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f3d77876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f3d77876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f3d77876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9f3d77876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9f3d77876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f3d77876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f3d77876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f3d778762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9f3d77876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ceefd8e7f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6ceefd8e7f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ceefd8e7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6ceefd8e7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ceefd8e7f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6ceefd8e7f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f422d42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9f422d42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9f3d778762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9f3d77876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ceefd8e7f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6ceefd8e7f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6ceefd8e7f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6ceefd8e7f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ceefd8e7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ceefd8e7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f422d426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9f422d426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hyperlink" Target="https://andrewcharlesjones.github.io/journal/mle-consistency.html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bi-dev/sbi" TargetMode="External"/><Relationship Id="rId4" Type="http://schemas.openxmlformats.org/officeDocument/2006/relationships/hyperlink" Target="https://github.com/justinalsing/pydelfi" TargetMode="External"/><Relationship Id="rId5" Type="http://schemas.openxmlformats.org/officeDocument/2006/relationships/hyperlink" Target="https://pypi.org/project/lampe/" TargetMode="External"/><Relationship Id="rId6" Type="http://schemas.openxmlformats.org/officeDocument/2006/relationships/hyperlink" Target="https://link.springer.com/article/10.1007/JHEP02(2024)136" TargetMode="External"/><Relationship Id="rId7" Type="http://schemas.openxmlformats.org/officeDocument/2006/relationships/hyperlink" Target="https://arxiv.org/abs/2508.0240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hyperlink" Target="http://hyperphysics.phy-astr.gsu.edu/hbase/Nuclear/meanlif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Relationship Id="rId4" Type="http://schemas.openxmlformats.org/officeDocument/2006/relationships/image" Target="../media/image51.png"/><Relationship Id="rId5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Statistics for Scientific Data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Maximum Likelihood Estimates (MLEs)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Pueh Leng Tan, plt2120@columbia.edu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 March 2026</a:t>
            </a:r>
            <a:endParaRPr sz="180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Likelihood</a:t>
            </a:r>
            <a:endParaRPr/>
          </a:p>
        </p:txBody>
      </p:sp>
      <p:pic>
        <p:nvPicPr>
          <p:cNvPr id="62" name="Google Shape;62;p14" title="Screenshot from 2025-10-17 10-44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75" y="1041424"/>
            <a:ext cx="7882151" cy="3638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>
            <a:off x="5114725" y="2257950"/>
            <a:ext cx="341700" cy="4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" name="Google Shape;64;p14"/>
          <p:cNvSpPr txBox="1"/>
          <p:nvPr/>
        </p:nvSpPr>
        <p:spPr>
          <a:xfrm>
            <a:off x="388750" y="2571750"/>
            <a:ext cx="21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X: Variable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88750" y="4248150"/>
            <a:ext cx="21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: Observed data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803600" y="1796250"/>
            <a:ext cx="25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parameters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7" name="Google Shape;67;p14"/>
          <p:cNvCxnSpPr>
            <a:stCxn id="66" idx="1"/>
          </p:cNvCxnSpPr>
          <p:nvPr/>
        </p:nvCxnSpPr>
        <p:spPr>
          <a:xfrm flipH="1">
            <a:off x="6537800" y="2027100"/>
            <a:ext cx="265800" cy="6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Likelihood example</a:t>
            </a:r>
            <a:endParaRPr/>
          </a:p>
        </p:txBody>
      </p:sp>
      <p:grpSp>
        <p:nvGrpSpPr>
          <p:cNvPr id="74" name="Google Shape;74;p15"/>
          <p:cNvGrpSpPr/>
          <p:nvPr/>
        </p:nvGrpSpPr>
        <p:grpSpPr>
          <a:xfrm>
            <a:off x="4368075" y="410300"/>
            <a:ext cx="4528051" cy="4322900"/>
            <a:chOff x="4368075" y="410300"/>
            <a:chExt cx="4528051" cy="4322900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4892" l="5273" r="8846" t="11061"/>
            <a:stretch/>
          </p:blipFill>
          <p:spPr>
            <a:xfrm>
              <a:off x="4368075" y="410300"/>
              <a:ext cx="4528051" cy="432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5"/>
            <p:cNvSpPr/>
            <p:nvPr/>
          </p:nvSpPr>
          <p:spPr>
            <a:xfrm>
              <a:off x="8266000" y="4071325"/>
              <a:ext cx="336900" cy="20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868625" y="4363675"/>
              <a:ext cx="336900" cy="20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8229600" y="403661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𝜇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967050" y="427151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σ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5" title="Screen Shot 2025-10-17 at 6.43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5900"/>
            <a:ext cx="3924601" cy="24032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070625" y="4094925"/>
            <a:ext cx="21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number per (μ,σ)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183100" y="121400"/>
            <a:ext cx="30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Likelihood surface/function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Likelihood intuition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0424"/>
            <a:ext cx="9143999" cy="37770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6071575" y="764950"/>
            <a:ext cx="23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Fixing 𝝈 at true value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intuition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0424"/>
            <a:ext cx="9143999" cy="377705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6071575" y="764950"/>
            <a:ext cx="23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Fixing 𝝈 at true value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737125" y="3352700"/>
            <a:ext cx="1913100" cy="831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Easier to handle the loglikelihood instead of likelihood itself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1" name="Google Shape;101;p17"/>
          <p:cNvCxnSpPr>
            <a:stCxn id="100" idx="1"/>
          </p:cNvCxnSpPr>
          <p:nvPr/>
        </p:nvCxnSpPr>
        <p:spPr>
          <a:xfrm rot="10800000">
            <a:off x="4843825" y="3157850"/>
            <a:ext cx="1893300" cy="61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equation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Likelihood Estimate (MLE) is a root of above equation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Likelihood differentiable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not at boundaries of parameter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more than 1 maximum, take higher one</a:t>
            </a:r>
            <a:endParaRPr/>
          </a:p>
        </p:txBody>
      </p:sp>
      <p:pic>
        <p:nvPicPr>
          <p:cNvPr id="108" name="Google Shape;108;p18" title="Screenshot from 2025-10-31 12-13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725" y="1152475"/>
            <a:ext cx="71628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</a:t>
            </a:r>
            <a:r>
              <a:rPr lang="en"/>
              <a:t>Desirable</a:t>
            </a:r>
            <a:r>
              <a:rPr lang="en"/>
              <a:t> estimator properties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Unbiased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Against outliers, mismodelling</a:t>
            </a:r>
            <a:endParaRPr/>
          </a:p>
        </p:txBody>
      </p:sp>
      <p:pic>
        <p:nvPicPr>
          <p:cNvPr id="115" name="Google Shape;115;p19" title="Screenshot from 2025-10-31 12-28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077" y="1462524"/>
            <a:ext cx="3213774" cy="61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9"/>
          <p:cNvGrpSpPr/>
          <p:nvPr/>
        </p:nvGrpSpPr>
        <p:grpSpPr>
          <a:xfrm>
            <a:off x="3515875" y="2378988"/>
            <a:ext cx="1844975" cy="506175"/>
            <a:chOff x="3515875" y="2607588"/>
            <a:chExt cx="1844975" cy="506175"/>
          </a:xfrm>
        </p:grpSpPr>
        <p:pic>
          <p:nvPicPr>
            <p:cNvPr id="117" name="Google Shape;117;p19" title="Screenshot from 2025-10-31 12-28-58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15875" y="2607588"/>
              <a:ext cx="1204175" cy="506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9"/>
            <p:cNvSpPr txBox="1"/>
            <p:nvPr/>
          </p:nvSpPr>
          <p:spPr>
            <a:xfrm>
              <a:off x="4720050" y="2629825"/>
              <a:ext cx="640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= 0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9" name="Google Shape;119;p19"/>
          <p:cNvGrpSpPr/>
          <p:nvPr/>
        </p:nvGrpSpPr>
        <p:grpSpPr>
          <a:xfrm>
            <a:off x="2625593" y="3161325"/>
            <a:ext cx="3625545" cy="694050"/>
            <a:chOff x="2625593" y="3313725"/>
            <a:chExt cx="3625545" cy="694050"/>
          </a:xfrm>
        </p:grpSpPr>
        <p:pic>
          <p:nvPicPr>
            <p:cNvPr id="120" name="Google Shape;120;p19" title="Screenshot from 2025-10-31 12-30-59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25593" y="3313725"/>
              <a:ext cx="3625545" cy="694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9"/>
            <p:cNvSpPr txBox="1"/>
            <p:nvPr/>
          </p:nvSpPr>
          <p:spPr>
            <a:xfrm>
              <a:off x="3114115" y="3472200"/>
              <a:ext cx="3432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=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Likelihood Estimator properties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Unbiased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Against outliers, mismodelling</a:t>
            </a:r>
            <a:endParaRPr/>
          </a:p>
        </p:txBody>
      </p:sp>
      <p:pic>
        <p:nvPicPr>
          <p:cNvPr id="128" name="Google Shape;128;p20" title="Screenshot from 2025-10-31 12-28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077" y="1462524"/>
            <a:ext cx="3213774" cy="6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6618900" y="1420700"/>
            <a:ext cx="25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See orangebook Sec</a:t>
            </a:r>
            <a:r>
              <a:rPr lang="en" sz="1200">
                <a:solidFill>
                  <a:schemeClr val="dk2"/>
                </a:solidFill>
              </a:rPr>
              <a:t>tion</a:t>
            </a:r>
            <a:r>
              <a:rPr lang="en" sz="1200">
                <a:solidFill>
                  <a:schemeClr val="dk2"/>
                </a:solidFill>
              </a:rPr>
              <a:t> 7.2.3 or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blog</a:t>
            </a:r>
            <a:r>
              <a:rPr lang="en" sz="1200">
                <a:solidFill>
                  <a:schemeClr val="dk2"/>
                </a:solidFill>
              </a:rPr>
              <a:t> for proof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618900" y="2415059"/>
            <a:ext cx="25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Asymptotically unbiased.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See orangebook Eq 7.33.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6618900" y="3173300"/>
            <a:ext cx="25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Asymptotically efficient.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See orangebook Section 7.4.5 for proof.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618900" y="4163900"/>
            <a:ext cx="25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Nope ):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Clean up your data first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Mismodelling studies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3" name="Google Shape;133;p20" title="Screenshot from 2025-10-31 14-23-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132" y="2310575"/>
            <a:ext cx="2514093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 title="Screenshot from 2025-10-31 14-25-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9475" y="3161325"/>
            <a:ext cx="3096975" cy="9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comments on MLE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Nice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Consistent estimator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Asymptotically unbiased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Asymptotically efficient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Irony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Last two properties hold for large sample size, N→∞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likelihood becomes difficult to compute at large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 Learning et al.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Simulation-based inference (SBI), Likelihood-free inference (LFI), Implicit likelihood inference (ILI)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Python packages: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sbi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pydelfi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lampe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 neural network to compute likelihood (or rather, likelihood ratio)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</a:t>
            </a:r>
            <a:r>
              <a:rPr lang="en" u="sng">
                <a:solidFill>
                  <a:schemeClr val="hlink"/>
                </a:solidFill>
                <a:hlinkClick r:id="rId6"/>
              </a:rPr>
              <a:t>Learning likelihood ratios with neural network classifiers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7"/>
              </a:rPr>
              <a:t>Robust Simulation Based Inference</a:t>
            </a:r>
            <a:r>
              <a:rPr lang="en"/>
              <a:t>, many more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Exponential distribution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Backstory: muon decay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152475"/>
            <a:ext cx="2972400" cy="3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particles are unstable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Decay into other particles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Probability of decay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Estimate half-life of muon</a:t>
            </a:r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525" y="1084521"/>
            <a:ext cx="4522054" cy="279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3283990" y="1633375"/>
            <a:ext cx="1743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375" lIns="69375" spcFirstLastPara="1" rIns="69375" wrap="square" tIns="69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Muon</a:t>
            </a:r>
            <a:endParaRPr sz="136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(Unstable, decays)</a:t>
            </a:r>
            <a:endParaRPr sz="1366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902889" y="615650"/>
            <a:ext cx="1743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375" lIns="69375" spcFirstLastPara="1" rIns="69375" wrap="square" tIns="69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Muon neutrino</a:t>
            </a:r>
            <a:endParaRPr sz="136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(difficult to measure)</a:t>
            </a:r>
            <a:endParaRPr sz="1366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6902889" y="1829977"/>
            <a:ext cx="1928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375" lIns="69375" spcFirstLastPara="1" rIns="69375" wrap="square" tIns="69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Anti-electron neutrino</a:t>
            </a:r>
            <a:endParaRPr sz="136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(difficult to measure)</a:t>
            </a:r>
            <a:endParaRPr sz="1366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6902889" y="3796029"/>
            <a:ext cx="1928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375" lIns="69375" spcFirstLastPara="1" rIns="69375" wrap="square" tIns="69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Electron</a:t>
            </a:r>
            <a:endParaRPr sz="136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(easy to measure)</a:t>
            </a:r>
            <a:endParaRPr sz="1366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3851445" y="2617236"/>
            <a:ext cx="1743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375" lIns="69375" spcFirstLastPara="1" rIns="69375" wrap="square" tIns="69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W boson</a:t>
            </a:r>
            <a:endParaRPr sz="136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dk2"/>
                </a:solidFill>
              </a:rPr>
              <a:t>(mediator particle)</a:t>
            </a:r>
            <a:endParaRPr sz="1366">
              <a:solidFill>
                <a:schemeClr val="dk2"/>
              </a:solidFill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188" y="2478100"/>
            <a:ext cx="2161413" cy="5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250" y="2849748"/>
            <a:ext cx="1743300" cy="11648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5786600" y="4512225"/>
            <a:ext cx="285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Learn about particle decays </a:t>
            </a:r>
            <a:r>
              <a:rPr lang="en" sz="1200" u="sng">
                <a:solidFill>
                  <a:schemeClr val="hlink"/>
                </a:solidFill>
                <a:hlinkClick r:id="rId6"/>
              </a:rPr>
              <a:t>here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4" title="Screenshot from 2025-10-31 16-57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024" y="947500"/>
            <a:ext cx="3264651" cy="2903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for exponential distribution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Consider the exponential distribution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E.g.: Decay time of muons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𝝉 would be related to half-life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Suppose we have i.i.d. Data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Likelihood function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Loglikelihood function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4" title="Screenshot from 2025-10-31 16-53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0386" y="1446575"/>
            <a:ext cx="2123239" cy="63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 title="Screenshot from 2025-10-31 16-53-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4149" y="2226873"/>
            <a:ext cx="1140725" cy="3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 title="Screenshot from 2025-10-31 16-53-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9200" y="2925661"/>
            <a:ext cx="2728274" cy="95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 title="Screenshot from 2025-10-31 16-53-4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7050" y="3960475"/>
            <a:ext cx="4754100" cy="8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</a:t>
            </a:r>
            <a:r>
              <a:rPr lang="en"/>
              <a:t>for exponential distribution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</a:t>
            </a:r>
            <a:r>
              <a:rPr lang="en"/>
              <a:t>𝝉 that maximises loglikelihood</a:t>
            </a:r>
            <a:endParaRPr/>
          </a:p>
        </p:txBody>
      </p:sp>
      <p:pic>
        <p:nvPicPr>
          <p:cNvPr id="178" name="Google Shape;178;p25" title="Screenshot from 2025-10-31 16-59-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450" y="1640600"/>
            <a:ext cx="5735299" cy="15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 title="Screenshot from 2025-10-31 16-59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9917" y="3286300"/>
            <a:ext cx="2864709" cy="15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5809950" y="4434200"/>
            <a:ext cx="31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Happens to be sample mean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 title="Screenshot from 2025-10-31 17-18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587" y="3260125"/>
            <a:ext cx="4126612" cy="9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 title="Screenshot from 2025-10-31 17-18-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025" y="4115254"/>
            <a:ext cx="4572001" cy="10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and Variance of MLE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 and variance for exponential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MLE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Expectation of MLE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Variance of MLE</a:t>
            </a:r>
            <a:endParaRPr/>
          </a:p>
        </p:txBody>
      </p:sp>
      <p:pic>
        <p:nvPicPr>
          <p:cNvPr id="189" name="Google Shape;189;p26" title="Screenshot from 2025-10-31 17-16-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152475"/>
            <a:ext cx="4011250" cy="15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 title="Screenshot from 2025-10-31 16-59-5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9450" y="2324588"/>
            <a:ext cx="1803425" cy="9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7671850" y="3547325"/>
            <a:ext cx="116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Unbiased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2" name="Google Shape;192;p26" title="Screenshot from 2025-10-31 17-19-3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0792" y="4245519"/>
            <a:ext cx="1219325" cy="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recall..</a:t>
            </a:r>
            <a:endParaRPr/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413" y="956071"/>
            <a:ext cx="4516900" cy="117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310" y="1732739"/>
            <a:ext cx="3643133" cy="2434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188200" y="3872825"/>
            <a:ext cx="16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Just found MLE for this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1" name="Google Shape;201;p27"/>
          <p:cNvCxnSpPr/>
          <p:nvPr/>
        </p:nvCxnSpPr>
        <p:spPr>
          <a:xfrm flipH="1" rot="10800000">
            <a:off x="715250" y="3024375"/>
            <a:ext cx="722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02" name="Google Shape;202;p27"/>
          <p:cNvPicPr preferRelativeResize="0"/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5403301" y="-1126"/>
            <a:ext cx="3740699" cy="514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1388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But what happens if you want to formulate the problem in terms of the decay constant, 𝝀?</a:t>
            </a:r>
            <a:endParaRPr sz="3140"/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799" y="2418649"/>
            <a:ext cx="3279800" cy="21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5009625" y="3981225"/>
            <a:ext cx="291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Called rate parameter in context of exponential distribution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1583875" y="2882275"/>
            <a:ext cx="595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MLE for lambda instead after break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 10:55 am.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22" name="Google Shape;222;p30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344375" y="1567125"/>
            <a:ext cx="8520600" cy="34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31" name="Google Shape;231;p31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44375" y="1898975"/>
            <a:ext cx="8520600" cy="308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39" name="Google Shape;239;p32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40" name="Google Shape;240;p32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344375" y="2757850"/>
            <a:ext cx="8520600" cy="222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344375" y="2197100"/>
            <a:ext cx="3796500" cy="24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50" name="Google Shape;250;p33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344375" y="3616725"/>
            <a:ext cx="8520600" cy="136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269550" y="2548725"/>
            <a:ext cx="3796500" cy="24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60" name="Google Shape;260;p34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344375" y="4368225"/>
            <a:ext cx="8520600" cy="6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"/>
          <p:cNvSpPr/>
          <p:nvPr/>
        </p:nvSpPr>
        <p:spPr>
          <a:xfrm>
            <a:off x="269550" y="3118950"/>
            <a:ext cx="3796500" cy="18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6864025" y="3548325"/>
            <a:ext cx="1337400" cy="141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71" name="Google Shape;271;p35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344375" y="4368225"/>
            <a:ext cx="8520600" cy="6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269550" y="3411750"/>
            <a:ext cx="3796500" cy="15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81" name="Google Shape;281;p36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/>
          <p:nvPr/>
        </p:nvSpPr>
        <p:spPr>
          <a:xfrm>
            <a:off x="6366250" y="4309675"/>
            <a:ext cx="1044300" cy="56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for exponential rate parameter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311700" y="1152475"/>
            <a:ext cx="37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exponential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Given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down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Differentiate w.r.t. parameter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to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MLE for parameter of interest</a:t>
            </a:r>
            <a:endParaRPr/>
          </a:p>
        </p:txBody>
      </p:sp>
      <p:pic>
        <p:nvPicPr>
          <p:cNvPr id="289" name="Google Shape;289;p37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 txBox="1"/>
          <p:nvPr/>
        </p:nvSpPr>
        <p:spPr>
          <a:xfrm rot="-1558126">
            <a:off x="7537134" y="4191999"/>
            <a:ext cx="773498" cy="4616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of a function is the function of the MLE.</a:t>
            </a:r>
            <a:endParaRPr/>
          </a:p>
        </p:txBody>
      </p:sp>
      <p:pic>
        <p:nvPicPr>
          <p:cNvPr id="296" name="Google Shape;296;p38" title="Screenshot from 2025-10-31 17-44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125" y="1017713"/>
            <a:ext cx="4816500" cy="394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8"/>
          <p:cNvSpPr txBox="1"/>
          <p:nvPr/>
        </p:nvSpPr>
        <p:spPr>
          <a:xfrm rot="-1558126">
            <a:off x="7537134" y="4191999"/>
            <a:ext cx="773498" cy="4616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8" name="Google Shape;298;p38" title="Screen Shot 2025-11-01 at 12.59.42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781325" cy="262848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/>
          <p:nvPr/>
        </p:nvSpPr>
        <p:spPr>
          <a:xfrm>
            <a:off x="4163325" y="1170125"/>
            <a:ext cx="4739400" cy="3158100"/>
          </a:xfrm>
          <a:prstGeom prst="rect">
            <a:avLst/>
          </a:prstGeom>
          <a:solidFill>
            <a:srgbClr val="EEEEEE">
              <a:alpha val="6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of MLE for exponential rate parameter</a:t>
            </a:r>
            <a:endParaRPr/>
          </a:p>
        </p:txBody>
      </p:sp>
      <p:pic>
        <p:nvPicPr>
          <p:cNvPr id="305" name="Google Shape;305;p39" title="Screenshot from 2025-10-31 17-5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87" y="1934675"/>
            <a:ext cx="7471424" cy="15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/>
          <p:nvPr/>
        </p:nvSpPr>
        <p:spPr>
          <a:xfrm>
            <a:off x="3038125" y="1508575"/>
            <a:ext cx="5563200" cy="26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9"/>
          <p:cNvSpPr txBox="1"/>
          <p:nvPr/>
        </p:nvSpPr>
        <p:spPr>
          <a:xfrm rot="-1148701">
            <a:off x="4598414" y="1899905"/>
            <a:ext cx="1952066" cy="1108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2"/>
                </a:solidFill>
              </a:rPr>
              <a:t>??</a:t>
            </a:r>
            <a:endParaRPr sz="6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of MLE for exponential rate parameter</a:t>
            </a:r>
            <a:endParaRPr/>
          </a:p>
        </p:txBody>
      </p:sp>
      <p:pic>
        <p:nvPicPr>
          <p:cNvPr id="313" name="Google Shape;313;p40" title="Screenshot from 2025-10-31 17-5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87" y="1934675"/>
            <a:ext cx="7471424" cy="15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0"/>
          <p:cNvSpPr txBox="1"/>
          <p:nvPr/>
        </p:nvSpPr>
        <p:spPr>
          <a:xfrm>
            <a:off x="3887225" y="3919275"/>
            <a:ext cx="4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See bluebook Section 10.4.1 or work it out yourself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of MLE for exponential rate parameter</a:t>
            </a:r>
            <a:endParaRPr/>
          </a:p>
        </p:txBody>
      </p:sp>
      <p:pic>
        <p:nvPicPr>
          <p:cNvPr id="320" name="Google Shape;320;p41" title="Screenshot from 2025-10-31 17-5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87" y="1934675"/>
            <a:ext cx="7471424" cy="15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 txBox="1"/>
          <p:nvPr/>
        </p:nvSpPr>
        <p:spPr>
          <a:xfrm>
            <a:off x="3887225" y="3919275"/>
            <a:ext cx="4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See bluebook Section 10.4.1 or work it out yourself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2" name="Google Shape;322;p41"/>
          <p:cNvSpPr/>
          <p:nvPr/>
        </p:nvSpPr>
        <p:spPr>
          <a:xfrm>
            <a:off x="6297950" y="1889200"/>
            <a:ext cx="1717800" cy="175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1"/>
          <p:cNvSpPr txBox="1"/>
          <p:nvPr/>
        </p:nvSpPr>
        <p:spPr>
          <a:xfrm>
            <a:off x="6356525" y="1245350"/>
            <a:ext cx="196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Biased estimator!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of MLE for exponential rate parameter</a:t>
            </a:r>
            <a:endParaRPr/>
          </a:p>
        </p:txBody>
      </p:sp>
      <p:pic>
        <p:nvPicPr>
          <p:cNvPr id="329" name="Google Shape;329;p42" title="Screenshot from 2025-10-31 17-5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87" y="1934675"/>
            <a:ext cx="7471424" cy="15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2"/>
          <p:cNvSpPr/>
          <p:nvPr/>
        </p:nvSpPr>
        <p:spPr>
          <a:xfrm>
            <a:off x="6297950" y="1889200"/>
            <a:ext cx="1717800" cy="175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 txBox="1"/>
          <p:nvPr/>
        </p:nvSpPr>
        <p:spPr>
          <a:xfrm>
            <a:off x="6356525" y="1245350"/>
            <a:ext cx="196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Biased estimator!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529800" y="3746750"/>
            <a:ext cx="651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𝝀, 𝝉 related (reciprocal of one another)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But unbiased estimators don’t necessarily remain unbiased after transformation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But MLEs are unbiased in large-sample limit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Circled term does go away as n→∞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311700" y="1152475"/>
            <a:ext cx="4260300" cy="24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Mean: </a:t>
            </a:r>
            <a:r>
              <a:rPr lang="en"/>
              <a:t>𝝁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Variance: 𝜎</a:t>
            </a:r>
            <a:r>
              <a:rPr baseline="30000" lang="en"/>
              <a:t>2</a:t>
            </a:r>
            <a:endParaRPr baseline="30000"/>
          </a:p>
        </p:txBody>
      </p:sp>
      <p:pic>
        <p:nvPicPr>
          <p:cNvPr id="339" name="Google Shape;339;p43" title="Screen Shot 2025-10-17 at 6.43.2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850" y="1017725"/>
            <a:ext cx="3924601" cy="240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3" title="Screen Shot 2025-10-31 at 10.31.4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82576"/>
            <a:ext cx="9143998" cy="98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pic>
        <p:nvPicPr>
          <p:cNvPr id="346" name="Google Shape;346;p44" title="Screen Shot 2025-10-31 at 10.31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401"/>
            <a:ext cx="9143998" cy="9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/>
          <p:cNvSpPr txBox="1"/>
          <p:nvPr/>
        </p:nvSpPr>
        <p:spPr>
          <a:xfrm>
            <a:off x="1387775" y="2562050"/>
            <a:ext cx="67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partial derivative w.r.t. 𝝁, set derivative to zero, solve for </a:t>
            </a:r>
            <a:r>
              <a:rPr lang="en" sz="1800">
                <a:solidFill>
                  <a:schemeClr val="dk2"/>
                </a:solidFill>
              </a:rPr>
              <a:t>𝝁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pic>
        <p:nvPicPr>
          <p:cNvPr id="353" name="Google Shape;353;p45" title="Screen Shot 2025-10-31 at 10.31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401"/>
            <a:ext cx="9143998" cy="9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5"/>
          <p:cNvSpPr txBox="1"/>
          <p:nvPr/>
        </p:nvSpPr>
        <p:spPr>
          <a:xfrm>
            <a:off x="1387775" y="2562050"/>
            <a:ext cx="67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partial derivative w.r.t. 𝝁, set derivative to zero, solve for 𝝁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55" name="Google Shape;355;p45" title="Screen Shot 2025-10-31 at 10.36.0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450" y="3064299"/>
            <a:ext cx="2011300" cy="109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5"/>
          <p:cNvSpPr txBox="1"/>
          <p:nvPr/>
        </p:nvSpPr>
        <p:spPr>
          <a:xfrm>
            <a:off x="1116050" y="4077775"/>
            <a:ext cx="28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Happens to be the sample mean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pic>
        <p:nvPicPr>
          <p:cNvPr id="362" name="Google Shape;362;p46" title="Screen Shot 2025-10-31 at 10.31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401"/>
            <a:ext cx="9143998" cy="9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6"/>
          <p:cNvSpPr txBox="1"/>
          <p:nvPr/>
        </p:nvSpPr>
        <p:spPr>
          <a:xfrm>
            <a:off x="1387775" y="2562050"/>
            <a:ext cx="67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partial derivative w.r.t. 𝝁, set derivative to zero, solve for 𝝁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4" name="Google Shape;364;p46" title="Screen Shot 2025-10-31 at 10.36.0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450" y="3064299"/>
            <a:ext cx="2011300" cy="10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 title="Screen Shot 2025-10-31 at 10.38.35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06" y="4156150"/>
            <a:ext cx="1242200" cy="4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6"/>
          <p:cNvSpPr txBox="1"/>
          <p:nvPr/>
        </p:nvSpPr>
        <p:spPr>
          <a:xfrm>
            <a:off x="1919550" y="4611175"/>
            <a:ext cx="101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Unbiased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pic>
        <p:nvPicPr>
          <p:cNvPr id="372" name="Google Shape;372;p47" title="Screen Shot 2025-10-31 at 10.31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401"/>
            <a:ext cx="9143998" cy="9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7"/>
          <p:cNvSpPr txBox="1"/>
          <p:nvPr/>
        </p:nvSpPr>
        <p:spPr>
          <a:xfrm>
            <a:off x="1387775" y="2562050"/>
            <a:ext cx="67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partial derivative w.r.t. </a:t>
            </a:r>
            <a:r>
              <a:rPr lang="en" sz="1800">
                <a:solidFill>
                  <a:schemeClr val="dk2"/>
                </a:solidFill>
              </a:rPr>
              <a:t>𝜎</a:t>
            </a:r>
            <a:r>
              <a:rPr lang="en" sz="1800">
                <a:solidFill>
                  <a:schemeClr val="dk2"/>
                </a:solidFill>
              </a:rPr>
              <a:t>, set derivative to zero, solve for </a:t>
            </a:r>
            <a:r>
              <a:rPr lang="en" sz="1800">
                <a:solidFill>
                  <a:schemeClr val="dk2"/>
                </a:solidFill>
              </a:rPr>
              <a:t>𝜎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4" name="Google Shape;374;p47" title="Screen Shot 2025-10-31 at 10.36.0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450" y="3064299"/>
            <a:ext cx="2011300" cy="10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7" title="Screen Shot 2025-10-31 at 10.38.35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06" y="4156150"/>
            <a:ext cx="1242200" cy="4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7" title="Screen Shot 2025-10-31 at 10.36.13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5945" y="3117075"/>
            <a:ext cx="2436754" cy="9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4891175" y="4367125"/>
            <a:ext cx="26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But note the denominator..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78" name="Google Shape;378;p47"/>
          <p:cNvCxnSpPr/>
          <p:nvPr/>
        </p:nvCxnSpPr>
        <p:spPr>
          <a:xfrm flipH="1" rot="10800000">
            <a:off x="5531700" y="3862450"/>
            <a:ext cx="368700" cy="58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9" name="Google Shape;379;p47"/>
          <p:cNvSpPr txBox="1"/>
          <p:nvPr/>
        </p:nvSpPr>
        <p:spPr>
          <a:xfrm>
            <a:off x="1919550" y="4611175"/>
            <a:ext cx="101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Unbiased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6319800" y="3953500"/>
            <a:ext cx="28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Resembles </a:t>
            </a:r>
            <a:r>
              <a:rPr lang="en">
                <a:solidFill>
                  <a:schemeClr val="dk2"/>
                </a:solidFill>
              </a:rPr>
              <a:t>the sample variance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 example: Gaussian</a:t>
            </a:r>
            <a:endParaRPr/>
          </a:p>
        </p:txBody>
      </p:sp>
      <p:pic>
        <p:nvPicPr>
          <p:cNvPr id="386" name="Google Shape;386;p48" title="Screen Shot 2025-10-31 at 10.31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401"/>
            <a:ext cx="9143998" cy="9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8"/>
          <p:cNvSpPr txBox="1"/>
          <p:nvPr/>
        </p:nvSpPr>
        <p:spPr>
          <a:xfrm>
            <a:off x="1387775" y="2562050"/>
            <a:ext cx="67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partial derivative w.r.t. 𝜎, set derivative to zero, solve for 𝜎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88" name="Google Shape;388;p48" title="Screen Shot 2025-10-31 at 10.36.0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450" y="3064299"/>
            <a:ext cx="2011300" cy="10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8" title="Screen Shot 2025-10-31 at 10.38.35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06" y="4156150"/>
            <a:ext cx="1242200" cy="4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 title="Screen Shot 2025-10-31 at 10.36.13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5945" y="3117075"/>
            <a:ext cx="2436754" cy="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 title="Screen Shot 2025-10-31 at 10.38.48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0275" y="4103492"/>
            <a:ext cx="2168100" cy="7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8"/>
          <p:cNvSpPr txBox="1"/>
          <p:nvPr/>
        </p:nvSpPr>
        <p:spPr>
          <a:xfrm>
            <a:off x="1919550" y="4611175"/>
            <a:ext cx="101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Unbiased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3" name="Google Shape;393;p48"/>
          <p:cNvSpPr txBox="1"/>
          <p:nvPr/>
        </p:nvSpPr>
        <p:spPr>
          <a:xfrm>
            <a:off x="6844700" y="4611175"/>
            <a:ext cx="21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Asymptotically u</a:t>
            </a:r>
            <a:r>
              <a:rPr lang="en">
                <a:solidFill>
                  <a:schemeClr val="dk2"/>
                </a:solidFill>
              </a:rPr>
              <a:t>nbiased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Estimators for Gaussian Variance</a:t>
            </a:r>
            <a:endParaRPr/>
          </a:p>
        </p:txBody>
      </p:sp>
      <p:pic>
        <p:nvPicPr>
          <p:cNvPr id="399" name="Google Shape;399;p49" title="Screen Shot 2025-10-17 at 11.54.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1769188"/>
            <a:ext cx="3922750" cy="12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9" title="Screen Shot 2025-10-17 at 11.54.2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025" y="1769188"/>
            <a:ext cx="3276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1293525" y="3222950"/>
            <a:ext cx="12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Unbiased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6017925" y="3222950"/>
            <a:ext cx="27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Biased but smaller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3" name="Google Shape;403;p49"/>
          <p:cNvSpPr txBox="1"/>
          <p:nvPr/>
        </p:nvSpPr>
        <p:spPr>
          <a:xfrm>
            <a:off x="4523188" y="2110050"/>
            <a:ext cx="2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&gt;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1293525" y="1165550"/>
            <a:ext cx="22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Sample variance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5" name="Google Shape;405;p49"/>
          <p:cNvSpPr txBox="1"/>
          <p:nvPr/>
        </p:nvSpPr>
        <p:spPr>
          <a:xfrm>
            <a:off x="6017925" y="1165550"/>
            <a:ext cx="22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quantify errors on MLEs?</a:t>
            </a:r>
            <a:endParaRPr/>
          </a:p>
        </p:txBody>
      </p:sp>
      <p:sp>
        <p:nvSpPr>
          <p:cNvPr id="411" name="Google Shape;411;p50"/>
          <p:cNvSpPr txBox="1"/>
          <p:nvPr/>
        </p:nvSpPr>
        <p:spPr>
          <a:xfrm>
            <a:off x="2261200" y="2901700"/>
            <a:ext cx="5589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MLE is an estimator, depends on data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spread of the MLE?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Variance on the MLE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of estimator</a:t>
            </a:r>
            <a:endParaRPr/>
          </a:p>
        </p:txBody>
      </p:sp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Analytic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Stick expression for MLE into definition of variance and expand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Monte-Carlo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too difficult to solve analytically, integrate by MC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Cramer-Rao Bound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Too difficult to integrate by hand, too expensive to MC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Only gives lower bound on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Likelihood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Max loglikelihood and drop 0.5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Also gives 1𝜎 central confidence interval on parameter</a:t>
            </a:r>
            <a:endParaRPr/>
          </a:p>
        </p:txBody>
      </p:sp>
      <p:pic>
        <p:nvPicPr>
          <p:cNvPr id="418" name="Google Shape;418;p51" title="Screen Shot 2025-10-31 at 11.08.3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75" y="1831750"/>
            <a:ext cx="7997773" cy="31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5609325" y="1831750"/>
            <a:ext cx="34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Example using MLE for exponential 𝛕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of estimator</a:t>
            </a:r>
            <a:endParaRPr/>
          </a:p>
        </p:txBody>
      </p:sp>
      <p:sp>
        <p:nvSpPr>
          <p:cNvPr id="425" name="Google Shape;42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Analytic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Stick expression for MLE into definition of variance and expand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Monte-Carlo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too difficult to solve analytically, integrate by MC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Cramer-Rao Bound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Too difficult to integrate by hand, too expensive to MC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Only gives lower bound on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Likelihood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Max loglikelihood and drop 0.5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Also gives 1𝜎 central confidence interval on parameter</a:t>
            </a:r>
            <a:endParaRPr/>
          </a:p>
        </p:txBody>
      </p:sp>
      <p:sp>
        <p:nvSpPr>
          <p:cNvPr id="426" name="Google Shape;426;p52"/>
          <p:cNvSpPr/>
          <p:nvPr/>
        </p:nvSpPr>
        <p:spPr>
          <a:xfrm>
            <a:off x="349375" y="2367950"/>
            <a:ext cx="6308100" cy="23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52" title="Screen Shot 2025-10-31 at 11.10.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625" y="1859675"/>
            <a:ext cx="3512674" cy="31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of estimator</a:t>
            </a:r>
            <a:endParaRPr/>
          </a:p>
        </p:txBody>
      </p:sp>
      <p:sp>
        <p:nvSpPr>
          <p:cNvPr id="433" name="Google Shape;43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Analytic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Stick expression for MLE into definition of variance and expand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Monte-Carlo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too difficult to solve analytically, integrate by MC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Cramer-Rao Bound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Too difficult to integrate by hand, too expensive to MC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Only gives lower bound on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Likelihood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Max loglikelihood and drop 0.5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Also gives 1𝜎 central confidence interval on parameter</a:t>
            </a:r>
            <a:endParaRPr/>
          </a:p>
        </p:txBody>
      </p:sp>
      <p:sp>
        <p:nvSpPr>
          <p:cNvPr id="434" name="Google Shape;434;p53"/>
          <p:cNvSpPr/>
          <p:nvPr/>
        </p:nvSpPr>
        <p:spPr>
          <a:xfrm>
            <a:off x="378475" y="3173450"/>
            <a:ext cx="3076500" cy="12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3" title="Screen Shot 2025-10-31 at 11.11.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575" y="3183172"/>
            <a:ext cx="5854866" cy="12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and Hessian</a:t>
            </a:r>
            <a:endParaRPr/>
          </a:p>
        </p:txBody>
      </p:sp>
      <p:pic>
        <p:nvPicPr>
          <p:cNvPr id="441" name="Google Shape;441;p54" title="Screen Shot 2025-10-31 at 11.11.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25" y="1017722"/>
            <a:ext cx="5854866" cy="12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4" title="Screen Shot 2025-11-01 at 12.51.36 AM.png"/>
          <p:cNvPicPr preferRelativeResize="0"/>
          <p:nvPr/>
        </p:nvPicPr>
        <p:blipFill rotWithShape="1">
          <a:blip r:embed="rId4">
            <a:alphaModFix/>
          </a:blip>
          <a:srcRect b="0" l="466" r="466" t="0"/>
          <a:stretch/>
        </p:blipFill>
        <p:spPr>
          <a:xfrm>
            <a:off x="709525" y="3236649"/>
            <a:ext cx="3065251" cy="8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4" title="Screen Shot 2025-11-01 at 12.50.48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899" y="2202975"/>
            <a:ext cx="3595400" cy="10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4"/>
          <p:cNvSpPr txBox="1"/>
          <p:nvPr/>
        </p:nvSpPr>
        <p:spPr>
          <a:xfrm>
            <a:off x="6502150" y="1406950"/>
            <a:ext cx="26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Information inequality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5" name="Google Shape;445;p54"/>
          <p:cNvSpPr txBox="1"/>
          <p:nvPr/>
        </p:nvSpPr>
        <p:spPr>
          <a:xfrm>
            <a:off x="6502150" y="2445575"/>
            <a:ext cx="26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Unbiased estimator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5201725" y="3359975"/>
            <a:ext cx="39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Approximating using Hessian at MLE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47" name="Google Shape;447;p54" title="Screen Shot 2025-11-01 at 12.54.37 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500" y="4117900"/>
            <a:ext cx="3065250" cy="84685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4"/>
          <p:cNvSpPr txBox="1"/>
          <p:nvPr/>
        </p:nvSpPr>
        <p:spPr>
          <a:xfrm>
            <a:off x="7899650" y="4350575"/>
            <a:ext cx="12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of estimator</a:t>
            </a:r>
            <a:endParaRPr/>
          </a:p>
        </p:txBody>
      </p:sp>
      <p:sp>
        <p:nvSpPr>
          <p:cNvPr id="454" name="Google Shape;45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Analytic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Stick expression for MLE into definition of variance and expand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Monte-Carlo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too difficult to solve analytically, integrate by MC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Cramer-Rao Bound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Too difficult to integrate by hand, too expensive to MC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Only gives lower bound on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Likelihood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Max loglikelihood and drop 0.5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Also gives 1𝜎 central confidence interval on parameter</a:t>
            </a:r>
            <a:endParaRPr/>
          </a:p>
        </p:txBody>
      </p:sp>
      <p:pic>
        <p:nvPicPr>
          <p:cNvPr id="455" name="Google Shape;455;p55" title="Screen Shot 2025-10-31 at 11.12.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525" y="1775950"/>
            <a:ext cx="3515475" cy="317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from likelihood</a:t>
            </a:r>
            <a:endParaRPr/>
          </a:p>
        </p:txBody>
      </p:sp>
      <p:pic>
        <p:nvPicPr>
          <p:cNvPr id="461" name="Google Shape;461;p56" title="Screen Shot 2025-10-31 at 11.15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6025"/>
            <a:ext cx="8715924" cy="6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6"/>
          <p:cNvSpPr txBox="1"/>
          <p:nvPr/>
        </p:nvSpPr>
        <p:spPr>
          <a:xfrm>
            <a:off x="311700" y="1135450"/>
            <a:ext cx="55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Taylor expand around the MLE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from likelihood</a:t>
            </a:r>
            <a:endParaRPr/>
          </a:p>
        </p:txBody>
      </p:sp>
      <p:pic>
        <p:nvPicPr>
          <p:cNvPr id="468" name="Google Shape;468;p57" title="Screen Shot 2025-10-31 at 11.15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6025"/>
            <a:ext cx="8715924" cy="6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7"/>
          <p:cNvSpPr txBox="1"/>
          <p:nvPr/>
        </p:nvSpPr>
        <p:spPr>
          <a:xfrm>
            <a:off x="311700" y="1135450"/>
            <a:ext cx="55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Taylor expand around the MLE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0" name="Google Shape;470;p57"/>
          <p:cNvCxnSpPr/>
          <p:nvPr/>
        </p:nvCxnSpPr>
        <p:spPr>
          <a:xfrm flipH="1" rot="10800000">
            <a:off x="2697900" y="1484700"/>
            <a:ext cx="1164600" cy="99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1" name="Google Shape;471;p57"/>
          <p:cNvSpPr txBox="1"/>
          <p:nvPr/>
        </p:nvSpPr>
        <p:spPr>
          <a:xfrm>
            <a:off x="3784862" y="1222786"/>
            <a:ext cx="4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2" name="Google Shape;472;p57"/>
          <p:cNvSpPr txBox="1"/>
          <p:nvPr/>
        </p:nvSpPr>
        <p:spPr>
          <a:xfrm>
            <a:off x="1795375" y="2500938"/>
            <a:ext cx="24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Very definition of MLE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73" name="Google Shape;473;p57" title="Screen Shot 2025-10-31 at 11.19.5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50" y="2962650"/>
            <a:ext cx="2290325" cy="383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57"/>
          <p:cNvCxnSpPr>
            <a:stCxn id="473" idx="0"/>
          </p:cNvCxnSpPr>
          <p:nvPr/>
        </p:nvCxnSpPr>
        <p:spPr>
          <a:xfrm flipH="1" rot="10800000">
            <a:off x="1213112" y="2047650"/>
            <a:ext cx="727800" cy="91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75" name="Google Shape;475;p57" title="Screen Shot 2025-10-31 at 11.22.1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6725" y="45500"/>
            <a:ext cx="3288275" cy="89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57"/>
          <p:cNvCxnSpPr/>
          <p:nvPr/>
        </p:nvCxnSpPr>
        <p:spPr>
          <a:xfrm flipH="1">
            <a:off x="6356625" y="747275"/>
            <a:ext cx="669600" cy="82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from likelihood</a:t>
            </a:r>
            <a:endParaRPr/>
          </a:p>
        </p:txBody>
      </p:sp>
      <p:pic>
        <p:nvPicPr>
          <p:cNvPr id="482" name="Google Shape;482;p58" title="Screen Shot 2025-10-31 at 11.15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6025"/>
            <a:ext cx="8715924" cy="6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8"/>
          <p:cNvSpPr txBox="1"/>
          <p:nvPr/>
        </p:nvSpPr>
        <p:spPr>
          <a:xfrm>
            <a:off x="311700" y="1135450"/>
            <a:ext cx="55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Taylor expand around the MLE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84" name="Google Shape;484;p58"/>
          <p:cNvCxnSpPr/>
          <p:nvPr/>
        </p:nvCxnSpPr>
        <p:spPr>
          <a:xfrm flipH="1" rot="10800000">
            <a:off x="2697900" y="1484700"/>
            <a:ext cx="1164600" cy="99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5" name="Google Shape;485;p58"/>
          <p:cNvSpPr txBox="1"/>
          <p:nvPr/>
        </p:nvSpPr>
        <p:spPr>
          <a:xfrm>
            <a:off x="3784862" y="1222786"/>
            <a:ext cx="4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6" name="Google Shape;486;p58"/>
          <p:cNvSpPr txBox="1"/>
          <p:nvPr/>
        </p:nvSpPr>
        <p:spPr>
          <a:xfrm>
            <a:off x="1795375" y="2500938"/>
            <a:ext cx="24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Very definition of MLE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7" name="Google Shape;487;p58" title="Screen Shot 2025-10-31 at 11.19.5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50" y="2962650"/>
            <a:ext cx="2290325" cy="383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58"/>
          <p:cNvCxnSpPr>
            <a:stCxn id="487" idx="0"/>
          </p:cNvCxnSpPr>
          <p:nvPr/>
        </p:nvCxnSpPr>
        <p:spPr>
          <a:xfrm flipH="1" rot="10800000">
            <a:off x="1213112" y="2047650"/>
            <a:ext cx="727800" cy="91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89" name="Google Shape;489;p58" title="Screen Shot 2025-10-31 at 11.22.1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6725" y="45500"/>
            <a:ext cx="3288275" cy="89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" name="Google Shape;490;p58"/>
          <p:cNvCxnSpPr/>
          <p:nvPr/>
        </p:nvCxnSpPr>
        <p:spPr>
          <a:xfrm flipH="1">
            <a:off x="6356625" y="747275"/>
            <a:ext cx="669600" cy="82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91" name="Google Shape;491;p58" title="Screen Shot 2025-10-31 at 11.23.24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8550" y="3295750"/>
            <a:ext cx="4026000" cy="10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from likelihood</a:t>
            </a:r>
            <a:endParaRPr/>
          </a:p>
        </p:txBody>
      </p:sp>
      <p:pic>
        <p:nvPicPr>
          <p:cNvPr id="497" name="Google Shape;497;p59" title="Screen Shot 2025-10-31 at 11.15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6025"/>
            <a:ext cx="8715924" cy="6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9"/>
          <p:cNvSpPr txBox="1"/>
          <p:nvPr/>
        </p:nvSpPr>
        <p:spPr>
          <a:xfrm>
            <a:off x="311700" y="1135450"/>
            <a:ext cx="55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Taylor expand around the MLE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99" name="Google Shape;499;p59" title="Screen Shot 2025-10-31 at 11.23.2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550" y="2609950"/>
            <a:ext cx="4026000" cy="10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9" title="Screen Shot 2025-10-31 at 11.25.2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9184" y="3722058"/>
            <a:ext cx="4026000" cy="851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from likelihood</a:t>
            </a:r>
            <a:endParaRPr/>
          </a:p>
        </p:txBody>
      </p:sp>
      <p:pic>
        <p:nvPicPr>
          <p:cNvPr id="506" name="Google Shape;506;p60" title="Screen Shot 2025-10-31 at 11.23.2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50" y="1847950"/>
            <a:ext cx="4026000" cy="10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0" title="Screen Shot 2025-10-31 at 11.25.2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84" y="2960058"/>
            <a:ext cx="4026000" cy="85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0" title="Screen Shot 2025-10-31 at 11.12.5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1575" y="818269"/>
            <a:ext cx="4800775" cy="433205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0"/>
          <p:cNvSpPr txBox="1"/>
          <p:nvPr/>
        </p:nvSpPr>
        <p:spPr>
          <a:xfrm>
            <a:off x="119325" y="4415647"/>
            <a:ext cx="593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Only approximation (Taylor expansion)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 method (interval computation) can give rise to </a:t>
            </a:r>
            <a:r>
              <a:rPr lang="en">
                <a:solidFill>
                  <a:schemeClr val="dk2"/>
                </a:solidFill>
              </a:rPr>
              <a:t>asymmetric</a:t>
            </a:r>
            <a:r>
              <a:rPr lang="en">
                <a:solidFill>
                  <a:schemeClr val="dk2"/>
                </a:solidFill>
              </a:rPr>
              <a:t> errors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MLE →Gaussian in large-sample limit</a:t>
            </a:r>
            <a:endParaRPr/>
          </a:p>
        </p:txBody>
      </p:sp>
      <p:sp>
        <p:nvSpPr>
          <p:cNvPr id="515" name="Google Shape;515;p61"/>
          <p:cNvSpPr txBox="1"/>
          <p:nvPr>
            <p:ph idx="1" type="body"/>
          </p:nvPr>
        </p:nvSpPr>
        <p:spPr>
          <a:xfrm>
            <a:off x="311700" y="1152475"/>
            <a:ext cx="398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True for MLE for params for all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E.g.: MLE for Gaussian expectation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Stems from central limit theorem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orangebook Section 7.3.1 for proof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for sanity checks in simulations</a:t>
            </a:r>
            <a:endParaRPr/>
          </a:p>
        </p:txBody>
      </p:sp>
      <p:pic>
        <p:nvPicPr>
          <p:cNvPr id="516" name="Google Shape;51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4297" y="1339922"/>
            <a:ext cx="4273249" cy="33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1" title="Screen Shot 2025-11-01 at 12.43.1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761" y="1017725"/>
            <a:ext cx="342806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1" title="Screen Shot 2025-11-01 at 12.43.23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2223" y="2254250"/>
            <a:ext cx="1800276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  <p:sp>
        <p:nvSpPr>
          <p:cNvPr id="524" name="Google Shape;524;p62"/>
          <p:cNvSpPr txBox="1"/>
          <p:nvPr/>
        </p:nvSpPr>
        <p:spPr>
          <a:xfrm>
            <a:off x="1777050" y="2882275"/>
            <a:ext cx="55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Extended Likelihood and code walkthrough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 11:40 am.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Extended Maximum Likelihood</a:t>
            </a:r>
            <a:endParaRPr/>
          </a:p>
        </p:txBody>
      </p:sp>
      <p:pic>
        <p:nvPicPr>
          <p:cNvPr id="530" name="Google Shape;530;p63" title="Screen Shot 2025-11-01 at 1.06.1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30875"/>
            <a:ext cx="8839198" cy="156154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3"/>
          <p:cNvSpPr txBox="1"/>
          <p:nvPr/>
        </p:nvSpPr>
        <p:spPr>
          <a:xfrm>
            <a:off x="3755750" y="1828625"/>
            <a:ext cx="127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Shape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32" name="Google Shape;532;p63"/>
          <p:cNvSpPr/>
          <p:nvPr/>
        </p:nvSpPr>
        <p:spPr>
          <a:xfrm>
            <a:off x="3357825" y="2290325"/>
            <a:ext cx="1863300" cy="1402200"/>
          </a:xfrm>
          <a:prstGeom prst="rect">
            <a:avLst/>
          </a:prstGeom>
          <a:solidFill>
            <a:srgbClr val="6AA84F">
              <a:alpha val="40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3"/>
          <p:cNvSpPr txBox="1"/>
          <p:nvPr/>
        </p:nvSpPr>
        <p:spPr>
          <a:xfrm>
            <a:off x="2217821" y="1828625"/>
            <a:ext cx="11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Count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34" name="Google Shape;534;p63"/>
          <p:cNvSpPr/>
          <p:nvPr/>
        </p:nvSpPr>
        <p:spPr>
          <a:xfrm>
            <a:off x="2062425" y="2290325"/>
            <a:ext cx="1227600" cy="1402200"/>
          </a:xfrm>
          <a:prstGeom prst="rect">
            <a:avLst/>
          </a:prstGeom>
          <a:solidFill>
            <a:srgbClr val="FF9900">
              <a:alpha val="42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3"/>
          <p:cNvSpPr txBox="1"/>
          <p:nvPr/>
        </p:nvSpPr>
        <p:spPr>
          <a:xfrm>
            <a:off x="2141621" y="3657425"/>
            <a:ext cx="11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Poisson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36" name="Google Shape;536;p63"/>
          <p:cNvSpPr txBox="1"/>
          <p:nvPr/>
        </p:nvSpPr>
        <p:spPr>
          <a:xfrm>
            <a:off x="3755750" y="3657425"/>
            <a:ext cx="127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Gaussian, some arbitrary shape, etc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37" name="Google Shape;537;p63"/>
          <p:cNvSpPr txBox="1"/>
          <p:nvPr/>
        </p:nvSpPr>
        <p:spPr>
          <a:xfrm>
            <a:off x="3357825" y="1096625"/>
            <a:ext cx="53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Multiplication over the samples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38" name="Google Shape;538;p63"/>
          <p:cNvCxnSpPr/>
          <p:nvPr/>
        </p:nvCxnSpPr>
        <p:spPr>
          <a:xfrm flipH="1">
            <a:off x="3648825" y="1494525"/>
            <a:ext cx="97200" cy="88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can have many components</a:t>
            </a:r>
            <a:endParaRPr/>
          </a:p>
        </p:txBody>
      </p:sp>
      <p:pic>
        <p:nvPicPr>
          <p:cNvPr id="544" name="Google Shape;544;p64" title="Screen Shot 2025-11-01 at 1.12.4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375" y="3122775"/>
            <a:ext cx="2626325" cy="9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4" title="Screen Shot 2025-11-01 at 1.06.14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63375"/>
            <a:ext cx="8839198" cy="15615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6" name="Google Shape;546;p64"/>
          <p:cNvCxnSpPr/>
          <p:nvPr/>
        </p:nvCxnSpPr>
        <p:spPr>
          <a:xfrm rot="10800000">
            <a:off x="4211775" y="2134925"/>
            <a:ext cx="242700" cy="118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7" name="Google Shape;547;p64"/>
          <p:cNvSpPr txBox="1"/>
          <p:nvPr/>
        </p:nvSpPr>
        <p:spPr>
          <a:xfrm>
            <a:off x="5958700" y="3319025"/>
            <a:ext cx="289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Sum over the various components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Signal, background, etc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48" name="Google Shape;548;p64" title="Screen Shot 2025-11-01 at 1.20.21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5408" y="4056575"/>
            <a:ext cx="4980266" cy="9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4"/>
          <p:cNvSpPr txBox="1"/>
          <p:nvPr/>
        </p:nvSpPr>
        <p:spPr>
          <a:xfrm>
            <a:off x="1006425" y="4267200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Example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code time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slides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69" title="Screen Shot 2025-11-01 at 1.06.1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174" y="123163"/>
            <a:ext cx="6885674" cy="121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9" title="Screen Shot 2025-11-01 at 1.15.58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00" y="1775063"/>
            <a:ext cx="4950501" cy="15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9"/>
          <p:cNvSpPr txBox="1"/>
          <p:nvPr/>
        </p:nvSpPr>
        <p:spPr>
          <a:xfrm>
            <a:off x="3445175" y="1339575"/>
            <a:ext cx="13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Take log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7" name="Google Shape;577;p69"/>
          <p:cNvSpPr/>
          <p:nvPr/>
        </p:nvSpPr>
        <p:spPr>
          <a:xfrm>
            <a:off x="2562050" y="805500"/>
            <a:ext cx="378600" cy="349500"/>
          </a:xfrm>
          <a:prstGeom prst="rect">
            <a:avLst/>
          </a:prstGeom>
          <a:solidFill>
            <a:srgbClr val="EEEEEE">
              <a:alpha val="6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9"/>
          <p:cNvSpPr/>
          <p:nvPr/>
        </p:nvSpPr>
        <p:spPr>
          <a:xfrm>
            <a:off x="5506174" y="786091"/>
            <a:ext cx="378600" cy="349500"/>
          </a:xfrm>
          <a:prstGeom prst="rect">
            <a:avLst/>
          </a:prstGeom>
          <a:solidFill>
            <a:srgbClr val="EEEEEE">
              <a:alpha val="6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p69" title="Screen Shot 2025-11-01 at 1.18.44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897" y="3875175"/>
            <a:ext cx="5056527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9" title="Screen Shot 2025-11-01 at 1.12.48 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4925" y="3242225"/>
            <a:ext cx="1780175" cy="63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1" name="Google Shape;581;p69"/>
          <p:cNvCxnSpPr/>
          <p:nvPr/>
        </p:nvCxnSpPr>
        <p:spPr>
          <a:xfrm>
            <a:off x="4580625" y="3076400"/>
            <a:ext cx="0" cy="118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